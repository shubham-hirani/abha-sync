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Jugaadu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Techis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dirty="0"/>
              <a:t>AI for Healthcare &amp; Life Sciences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Shubham Hirani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49"/>
            <a:ext cx="8572105" cy="408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  </a:t>
            </a:r>
          </a:p>
          <a:p>
            <a:r>
              <a:rPr lang="en-US" dirty="0"/>
              <a:t>India is undergoing a digital health revolution with the </a:t>
            </a:r>
            <a:r>
              <a:rPr lang="en-US" b="1" dirty="0"/>
              <a:t>Ayushman Bharat Digital Mission (ABDM)</a:t>
            </a:r>
            <a:r>
              <a:rPr lang="en-US" dirty="0"/>
              <a:t>. However, a significant "data gap" exists between modern digital health records and the millions of legacy paper-based records (handwritten prescriptions, physical lab reports, and PDFs) generated daily at local clinics and pharmacies. </a:t>
            </a:r>
            <a:r>
              <a:rPr lang="en-US" b="1" dirty="0"/>
              <a:t>ABHA-Sync</a:t>
            </a:r>
            <a:r>
              <a:rPr lang="en-US" dirty="0"/>
              <a:t> aims to bridge this gap by providing an AI-driven "Data Gateway" to standardize and integrate these legacy records into the national digital health stack.</a:t>
            </a:r>
            <a:endParaRPr lang="en-US" sz="1800" dirty="0"/>
          </a:p>
          <a:p>
            <a:br>
              <a:rPr lang="en-US" sz="1800" dirty="0"/>
            </a:b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</a:p>
          <a:p>
            <a:r>
              <a:rPr lang="en-US" sz="1800" b="1" dirty="0"/>
              <a:t>1. Intelligent Paper-to-FHIR Pipeline</a:t>
            </a:r>
          </a:p>
          <a:p>
            <a:r>
              <a:rPr lang="en-US" sz="1800" b="1" dirty="0"/>
              <a:t>VLM-based OCR:</a:t>
            </a:r>
            <a:r>
              <a:rPr lang="en-US" sz="1800" dirty="0"/>
              <a:t> Uses Vision-Language Models (Gemini 2.0 Flash) to interpret "messy" handwritten prescriptions and structured lab reports that standard OCR fails to read.</a:t>
            </a:r>
          </a:p>
          <a:p>
            <a:r>
              <a:rPr lang="en-US" sz="1800" b="1" dirty="0"/>
              <a:t>Automated FHIR Bundling:</a:t>
            </a:r>
            <a:r>
              <a:rPr lang="en-US" sz="1800" dirty="0"/>
              <a:t> A backend engine that maps extracted medical data into </a:t>
            </a:r>
            <a:r>
              <a:rPr lang="en-US" sz="1800" b="1" dirty="0"/>
              <a:t>HL7 FHIR R4 JSON</a:t>
            </a:r>
            <a:r>
              <a:rPr lang="en-US" sz="1800" dirty="0"/>
              <a:t> bundles, ensuring the data is instantly compatible with India's National Health Stack (ABDM).</a:t>
            </a:r>
          </a:p>
          <a:p>
            <a:r>
              <a:rPr lang="en-US" sz="1800" b="1" dirty="0"/>
              <a:t>Entity Resolution:</a:t>
            </a:r>
            <a:r>
              <a:rPr lang="en-US" sz="1800" dirty="0"/>
              <a:t> Uses medical NLP (like Spark NLP) to normalize drug names and conditions to global standards like </a:t>
            </a:r>
            <a:r>
              <a:rPr lang="en-US" sz="1800" b="1" dirty="0"/>
              <a:t>SNOMED-CT</a:t>
            </a:r>
            <a:r>
              <a:rPr lang="en-US" sz="1800" dirty="0"/>
              <a:t> and </a:t>
            </a:r>
            <a:r>
              <a:rPr lang="en-US" sz="1800" b="1" dirty="0"/>
              <a:t>ICD-10</a:t>
            </a:r>
            <a:r>
              <a:rPr lang="en-US" sz="1800" dirty="0"/>
              <a:t>.</a:t>
            </a:r>
          </a:p>
          <a:p>
            <a:r>
              <a:rPr lang="en-US" sz="1800" b="1" dirty="0"/>
              <a:t>2. Jan </a:t>
            </a:r>
            <a:r>
              <a:rPr lang="en-US" sz="1800" b="1" dirty="0" err="1"/>
              <a:t>Aushadhi</a:t>
            </a:r>
            <a:r>
              <a:rPr lang="en-US" sz="1800" b="1" dirty="0"/>
              <a:t> "Smart-Switch" &amp; Cost Savings</a:t>
            </a:r>
          </a:p>
          <a:p>
            <a:r>
              <a:rPr lang="en-US" sz="1800" b="1" dirty="0"/>
              <a:t>Generic molecule Matching:</a:t>
            </a:r>
            <a:r>
              <a:rPr lang="en-US" sz="1800" dirty="0"/>
              <a:t> Once a brand-name drug is identified, the system queries the </a:t>
            </a:r>
            <a:r>
              <a:rPr lang="en-US" sz="1800" b="1" dirty="0"/>
              <a:t>Jan </a:t>
            </a:r>
            <a:r>
              <a:rPr lang="en-US" sz="1800" b="1" dirty="0" err="1"/>
              <a:t>Aushadhi</a:t>
            </a:r>
            <a:r>
              <a:rPr lang="en-US" sz="1800" b="1" dirty="0"/>
              <a:t> Drug Registry</a:t>
            </a:r>
            <a:r>
              <a:rPr lang="en-US" sz="1800" dirty="0"/>
              <a:t> to find the exact generic molecule equivalent.</a:t>
            </a:r>
          </a:p>
          <a:p>
            <a:r>
              <a:rPr lang="en-US" sz="1800" b="1" dirty="0"/>
              <a:t>Savings Calculator:</a:t>
            </a:r>
            <a:r>
              <a:rPr lang="en-US" sz="1800" dirty="0"/>
              <a:t> Provides an instant comparison of the branded price vs. the Jan </a:t>
            </a:r>
            <a:r>
              <a:rPr lang="en-US" sz="1800" dirty="0" err="1"/>
              <a:t>Aushadhi</a:t>
            </a:r>
            <a:r>
              <a:rPr lang="en-US" sz="1800" dirty="0"/>
              <a:t> price to show the patient their potential out-of-pocket savings.</a:t>
            </a:r>
          </a:p>
          <a:p>
            <a:r>
              <a:rPr lang="en-US" sz="1800" b="1" dirty="0"/>
              <a:t>Kendra Locator:</a:t>
            </a:r>
            <a:r>
              <a:rPr lang="en-US" sz="1800" dirty="0"/>
              <a:t> Uses Geospatial APIs (Google Maps) to show a live map and navigation to the nearest government-approved Jan </a:t>
            </a:r>
            <a:r>
              <a:rPr lang="en-US" sz="1800" dirty="0" err="1"/>
              <a:t>Aushadhi</a:t>
            </a:r>
            <a:r>
              <a:rPr lang="en-US" sz="1800" dirty="0"/>
              <a:t> Kendra.</a:t>
            </a:r>
          </a:p>
          <a:p>
            <a:r>
              <a:rPr lang="en-US" sz="1800" b="1" dirty="0"/>
              <a:t>3. Responsible AI Report Explainer</a:t>
            </a:r>
          </a:p>
          <a:p>
            <a:r>
              <a:rPr lang="en-US" sz="1800" b="1" dirty="0"/>
              <a:t>Safe-Summary Logic:</a:t>
            </a:r>
            <a:r>
              <a:rPr lang="en-US" sz="1800" dirty="0"/>
              <a:t> Converts complex lab values (e.g., "HbA1c: 8.5%") into simple, non-alarmist language for the patient.</a:t>
            </a:r>
          </a:p>
          <a:p>
            <a:r>
              <a:rPr lang="en-US" sz="1800" b="1" dirty="0"/>
              <a:t>Critical Triage Protocol:</a:t>
            </a:r>
            <a:r>
              <a:rPr lang="en-US" sz="1800" dirty="0"/>
              <a:t> Instead of explaining, the AI is programmed to trigger a </a:t>
            </a:r>
            <a:r>
              <a:rPr lang="en-US" sz="1800" b="1" dirty="0"/>
              <a:t>"Red Alert"</a:t>
            </a:r>
            <a:r>
              <a:rPr lang="en-US" sz="1800" dirty="0"/>
              <a:t> if it detects life-threatening values, advising the patient to seek immediate emergency care.</a:t>
            </a:r>
          </a:p>
          <a:p>
            <a:r>
              <a:rPr lang="en-US" sz="1800" b="1" dirty="0"/>
              <a:t>Interactive Q&amp;A:</a:t>
            </a:r>
            <a:r>
              <a:rPr lang="en-US" sz="1800" dirty="0"/>
              <a:t> Allows patients to ask specific questions like, "Does this report show I have high cholesterol?" grounded strictly in their uploaded document.</a:t>
            </a:r>
          </a:p>
          <a:p>
            <a:r>
              <a:rPr lang="en-US" sz="1800" b="1" dirty="0"/>
              <a:t>4. Multilingual WhatsApp Care Navigator</a:t>
            </a:r>
          </a:p>
          <a:p>
            <a:r>
              <a:rPr lang="en-US" sz="1800" b="1" dirty="0"/>
              <a:t>Language Localization:</a:t>
            </a:r>
            <a:r>
              <a:rPr lang="en-US" sz="1800" dirty="0"/>
              <a:t> Communicates in regional Indian languages (Hindi, Gujarati, Marathi, etc.) via the </a:t>
            </a:r>
            <a:r>
              <a:rPr lang="en-US" sz="1800" b="1" dirty="0"/>
              <a:t>WhatsApp Business API</a:t>
            </a:r>
            <a:r>
              <a:rPr lang="en-US" sz="1800" dirty="0"/>
              <a:t>.</a:t>
            </a:r>
          </a:p>
          <a:p>
            <a:r>
              <a:rPr lang="en-US" sz="1800" b="1" dirty="0"/>
              <a:t>Smart Medication Reminders:</a:t>
            </a:r>
            <a:r>
              <a:rPr lang="en-US" sz="1800" dirty="0"/>
              <a:t> Extracts dosage frequency (e.g., "twice daily after meals") and schedules automated alerts for the patient.</a:t>
            </a:r>
          </a:p>
          <a:p>
            <a:r>
              <a:rPr lang="en-US" sz="1800" b="1" dirty="0"/>
              <a:t>Offline-First Sync:</a:t>
            </a:r>
            <a:r>
              <a:rPr lang="en-US" sz="1800" dirty="0"/>
              <a:t> Allows ASHA workers or patients in low-connectivity areas to "queue" uploads which sync automatically once they reach a network.</a:t>
            </a:r>
          </a:p>
          <a:p>
            <a:r>
              <a:rPr lang="en-US" sz="1800" b="1" dirty="0"/>
              <a:t>5. ABHA-Address Auto-Linking</a:t>
            </a:r>
          </a:p>
          <a:p>
            <a:r>
              <a:rPr lang="en-US" sz="1800" b="1" dirty="0"/>
              <a:t>Consent-Driven Upload:</a:t>
            </a:r>
            <a:r>
              <a:rPr lang="en-US" sz="1800" dirty="0"/>
              <a:t> After digitization, the record is pushed to the patient's </a:t>
            </a:r>
            <a:r>
              <a:rPr lang="en-US" sz="1800" b="1" dirty="0"/>
              <a:t>ABHA (Ayushman Bharat Health Account)</a:t>
            </a:r>
            <a:r>
              <a:rPr lang="en-US" sz="1800" dirty="0"/>
              <a:t> vault with their explicit digital consent.</a:t>
            </a:r>
          </a:p>
          <a:p>
            <a:r>
              <a:rPr lang="en-US" sz="1800" b="1" dirty="0"/>
              <a:t>Longitudinal History:</a:t>
            </a:r>
            <a:r>
              <a:rPr lang="en-US" sz="1800" dirty="0"/>
              <a:t> Creates a unified timeline of health events, pulling data from various paper-based sources into one clean, searchable digital history.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534725" y="51414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1EE58-3522-8847-155D-F12462A728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-298" b="48690"/>
          <a:stretch>
            <a:fillRect/>
          </a:stretch>
        </p:blipFill>
        <p:spPr>
          <a:xfrm>
            <a:off x="944137" y="1386003"/>
            <a:ext cx="5158833" cy="2639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CA76E2-637C-9AB7-6067-6D7EF45AD3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11" b="8356"/>
          <a:stretch>
            <a:fillRect/>
          </a:stretch>
        </p:blipFill>
        <p:spPr>
          <a:xfrm>
            <a:off x="378666" y="1276980"/>
            <a:ext cx="3524261" cy="3256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C3D126-326E-9EC6-B6E8-B31B009EB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26337"/>
              </p:ext>
            </p:extLst>
          </p:nvPr>
        </p:nvGraphicFramePr>
        <p:xfrm>
          <a:off x="311150" y="1321435"/>
          <a:ext cx="8521701" cy="3291840"/>
        </p:xfrm>
        <a:graphic>
          <a:graphicData uri="http://schemas.openxmlformats.org/drawingml/2006/table">
            <a:tbl>
              <a:tblPr/>
              <a:tblGrid>
                <a:gridCol w="2840567">
                  <a:extLst>
                    <a:ext uri="{9D8B030D-6E8A-4147-A177-3AD203B41FA5}">
                      <a16:colId xmlns:a16="http://schemas.microsoft.com/office/drawing/2014/main" val="328364940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31661887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68610028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Technology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Why it’s a good option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3231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AI (Vision)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Gemini 2.0 Flash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Handles messy handwriting better than any classic OCR.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276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Backend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FastAPI + Node.js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Shows you can handle both AI logic and real-time scale.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50816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Health Standard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FHIR R4 (HAPI FHIR)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Demonstrates alignment with global &amp; Indian govt standards.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88233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Database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Pinecone (Vector)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Proves you are using modern RAG techniques for drug matching.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7945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Messaging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WhatsApp API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Maximizes "India-specific" impact and accessibility.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716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On-screen Show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Arial</vt:lpstr>
      <vt:lpstr>Manrope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Shubham Hirani</cp:lastModifiedBy>
  <cp:revision>1</cp:revision>
  <dcterms:modified xsi:type="dcterms:W3CDTF">2026-02-15T13:54:12Z</dcterms:modified>
</cp:coreProperties>
</file>